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86" r:id="rId3"/>
    <p:sldId id="257" r:id="rId4"/>
    <p:sldId id="258" r:id="rId5"/>
    <p:sldId id="262" r:id="rId6"/>
    <p:sldId id="263" r:id="rId7"/>
    <p:sldId id="282" r:id="rId8"/>
    <p:sldId id="283" r:id="rId9"/>
    <p:sldId id="284" r:id="rId10"/>
    <p:sldId id="285" r:id="rId11"/>
    <p:sldId id="264" r:id="rId12"/>
    <p:sldId id="274" r:id="rId13"/>
    <p:sldId id="287" r:id="rId14"/>
    <p:sldId id="288" r:id="rId15"/>
    <p:sldId id="289" r:id="rId16"/>
    <p:sldId id="290" r:id="rId17"/>
    <p:sldId id="291" r:id="rId18"/>
    <p:sldId id="292" r:id="rId19"/>
    <p:sldId id="296" r:id="rId20"/>
    <p:sldId id="298" r:id="rId21"/>
    <p:sldId id="300" r:id="rId22"/>
    <p:sldId id="299" r:id="rId23"/>
    <p:sldId id="276" r:id="rId24"/>
  </p:sldIdLst>
  <p:sldSz cx="9144000" cy="5143500" type="screen16x9"/>
  <p:notesSz cx="6858000" cy="9144000"/>
  <p:embeddedFontLst>
    <p:embeddedFont>
      <p:font typeface="Anaheim" panose="020B0604020202020204" charset="0"/>
      <p:regular r:id="rId26"/>
      <p:bold r:id="rId27"/>
    </p:embeddedFont>
    <p:embeddedFont>
      <p:font typeface="Baloo 2 ExtraBold" panose="020B0604020202020204" charset="0"/>
      <p:bold r:id="rId28"/>
    </p:embeddedFont>
    <p:embeddedFont>
      <p:font typeface="DM Sans" pitchFamily="2" charset="0"/>
      <p:regular r:id="rId29"/>
      <p:bold r:id="rId30"/>
      <p:italic r:id="rId31"/>
      <p:boldItalic r:id="rId32"/>
    </p:embeddedFont>
    <p:embeddedFont>
      <p:font typeface="Nunito Light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087EF3-6789-4718-AE86-EB9EF84F4A4D}">
  <a:tblStyle styleId="{A2087EF3-6789-4718-AE86-EB9EF84F4A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CD756D-569C-4A86-992F-89DEBEEA0C7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78" y="31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8" name="Google Shape;74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0" name="Google Shape;90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17" name="Google Shape;91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49B57D5C-DE03-D5FD-D80A-456C26F7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ED9D323F-EC83-4E4C-AFD7-837FCB495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6ACA2761-0C60-7BAC-3938-6A4B12B88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184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928C69DD-2C08-A3C8-EDAA-499AABCD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C8ACB711-DC40-98B3-3211-5EAD3057B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2A51B082-AA5B-BD80-C74C-B3AE3A249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307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4C09D865-09E4-13DF-5400-3BFBD859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1172EE3E-C5C0-B034-C903-13501DF9A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2B29D8B6-F82E-F1AC-7590-AAE7F7A37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157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5BFF828A-C8C0-9897-B35A-33E2F1AF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CE5F4FE1-0989-67AD-8A38-50620A38D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7737DA81-A1EB-EC57-05F5-E0B104194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875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612772A7-3229-F0EC-496B-F3A0E90F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82353308-7B0E-60CA-958F-3958D1E22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8A4EA550-D5B1-EA72-D271-19FE9FF84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765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5D7B33AD-0BE3-3A87-6415-3AB55F30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E7EA5FDC-C5FE-1ECD-3425-29DC4E307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AE2EA595-E10A-562E-27CC-D1710DA87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671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D2FBD2A5-4CFF-CE52-40C4-DE59858A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A80CF26A-0C00-299E-7C2E-6EA97364B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76F0AB23-20E2-713F-07A5-1660C12F3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554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685BEFFD-BC83-F034-2DD6-738EE055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>
            <a:extLst>
              <a:ext uri="{FF2B5EF4-FFF2-40B4-BE49-F238E27FC236}">
                <a16:creationId xmlns:a16="http://schemas.microsoft.com/office/drawing/2014/main" id="{0FB3DDFB-6468-DC87-412C-4BACE0283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54dda1946d_6_344:notes">
            <a:extLst>
              <a:ext uri="{FF2B5EF4-FFF2-40B4-BE49-F238E27FC236}">
                <a16:creationId xmlns:a16="http://schemas.microsoft.com/office/drawing/2014/main" id="{F6FC91F6-DC03-986F-E86E-FC63DB92F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25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063351"/>
            <a:ext cx="77040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01338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-2070957" y="-2181586"/>
            <a:ext cx="12789989" cy="9622630"/>
            <a:chOff x="-2070957" y="-2181586"/>
            <a:chExt cx="12789989" cy="9622630"/>
          </a:xfrm>
        </p:grpSpPr>
        <p:sp>
          <p:nvSpPr>
            <p:cNvPr id="27" name="Google Shape;27;p4"/>
            <p:cNvSpPr/>
            <p:nvPr/>
          </p:nvSpPr>
          <p:spPr>
            <a:xfrm rot="-7978753">
              <a:off x="7222940" y="-1435304"/>
              <a:ext cx="3098931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2460279">
              <a:off x="-1652662" y="4289121"/>
              <a:ext cx="3098932" cy="24338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8350786" y="175533"/>
            <a:ext cx="627600" cy="887824"/>
            <a:chOff x="2443886" y="2869758"/>
            <a:chExt cx="627600" cy="887824"/>
          </a:xfrm>
        </p:grpSpPr>
        <p:sp>
          <p:nvSpPr>
            <p:cNvPr id="30" name="Google Shape;30;p4"/>
            <p:cNvSpPr/>
            <p:nvPr/>
          </p:nvSpPr>
          <p:spPr>
            <a:xfrm>
              <a:off x="2443886" y="2937682"/>
              <a:ext cx="627600" cy="81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443886" y="2869758"/>
              <a:ext cx="627579" cy="67924"/>
            </a:xfrm>
            <a:custGeom>
              <a:avLst/>
              <a:gdLst/>
              <a:ahLst/>
              <a:cxnLst/>
              <a:rect l="l" t="t" r="r" b="b"/>
              <a:pathLst>
                <a:path w="718" h="78" extrusionOk="0">
                  <a:moveTo>
                    <a:pt x="68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8" y="78"/>
                    <a:pt x="718" y="78"/>
                    <a:pt x="718" y="78"/>
                  </a:cubicBezTo>
                  <a:cubicBezTo>
                    <a:pt x="718" y="37"/>
                    <a:pt x="718" y="37"/>
                    <a:pt x="718" y="37"/>
                  </a:cubicBezTo>
                  <a:cubicBezTo>
                    <a:pt x="718" y="16"/>
                    <a:pt x="701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473543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2521377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70168" y="2887935"/>
              <a:ext cx="306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544337" y="3316526"/>
              <a:ext cx="97500" cy="14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692622" y="3217988"/>
              <a:ext cx="98400" cy="24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840906" y="3129017"/>
              <a:ext cx="975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578777" y="2982646"/>
              <a:ext cx="308049" cy="309007"/>
            </a:xfrm>
            <a:custGeom>
              <a:avLst/>
              <a:gdLst/>
              <a:ahLst/>
              <a:cxnLst/>
              <a:rect l="l" t="t" r="r" b="b"/>
              <a:pathLst>
                <a:path w="352" h="353" extrusionOk="0">
                  <a:moveTo>
                    <a:pt x="351" y="56"/>
                  </a:moveTo>
                  <a:cubicBezTo>
                    <a:pt x="350" y="51"/>
                    <a:pt x="347" y="47"/>
                    <a:pt x="343" y="45"/>
                  </a:cubicBezTo>
                  <a:cubicBezTo>
                    <a:pt x="262" y="4"/>
                    <a:pt x="262" y="4"/>
                    <a:pt x="262" y="4"/>
                  </a:cubicBezTo>
                  <a:cubicBezTo>
                    <a:pt x="255" y="0"/>
                    <a:pt x="246" y="3"/>
                    <a:pt x="242" y="11"/>
                  </a:cubicBezTo>
                  <a:cubicBezTo>
                    <a:pt x="238" y="18"/>
                    <a:pt x="241" y="27"/>
                    <a:pt x="249" y="3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3" y="111"/>
                    <a:pt x="2" y="333"/>
                    <a:pt x="2" y="335"/>
                  </a:cubicBezTo>
                  <a:cubicBezTo>
                    <a:pt x="0" y="343"/>
                    <a:pt x="6" y="351"/>
                    <a:pt x="14" y="352"/>
                  </a:cubicBezTo>
                  <a:cubicBezTo>
                    <a:pt x="15" y="353"/>
                    <a:pt x="15" y="353"/>
                    <a:pt x="16" y="353"/>
                  </a:cubicBezTo>
                  <a:cubicBezTo>
                    <a:pt x="23" y="353"/>
                    <a:pt x="30" y="348"/>
                    <a:pt x="31" y="340"/>
                  </a:cubicBezTo>
                  <a:cubicBezTo>
                    <a:pt x="31" y="338"/>
                    <a:pt x="69" y="134"/>
                    <a:pt x="300" y="80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3" y="126"/>
                    <a:pt x="264" y="135"/>
                    <a:pt x="270" y="141"/>
                  </a:cubicBezTo>
                  <a:cubicBezTo>
                    <a:pt x="273" y="143"/>
                    <a:pt x="276" y="144"/>
                    <a:pt x="280" y="144"/>
                  </a:cubicBezTo>
                  <a:cubicBezTo>
                    <a:pt x="284" y="144"/>
                    <a:pt x="288" y="142"/>
                    <a:pt x="291" y="138"/>
                  </a:cubicBezTo>
                  <a:cubicBezTo>
                    <a:pt x="348" y="68"/>
                    <a:pt x="348" y="68"/>
                    <a:pt x="348" y="68"/>
                  </a:cubicBezTo>
                  <a:cubicBezTo>
                    <a:pt x="351" y="65"/>
                    <a:pt x="352" y="60"/>
                    <a:pt x="351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15637" y="3521255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515637" y="3573872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568254" y="3626489"/>
              <a:ext cx="3777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36178" y="3679106"/>
              <a:ext cx="2421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150790" y="217095"/>
            <a:ext cx="7996462" cy="5057956"/>
            <a:chOff x="150790" y="217095"/>
            <a:chExt cx="7996462" cy="5057956"/>
          </a:xfrm>
        </p:grpSpPr>
        <p:sp>
          <p:nvSpPr>
            <p:cNvPr id="44" name="Google Shape;44;p4"/>
            <p:cNvSpPr/>
            <p:nvPr/>
          </p:nvSpPr>
          <p:spPr>
            <a:xfrm>
              <a:off x="7820577" y="217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5;p4"/>
            <p:cNvGrpSpPr/>
            <p:nvPr/>
          </p:nvGrpSpPr>
          <p:grpSpPr>
            <a:xfrm rot="-8329653">
              <a:off x="354633" y="4434969"/>
              <a:ext cx="451704" cy="788937"/>
              <a:chOff x="8579627" y="228750"/>
              <a:chExt cx="451723" cy="78897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-1067442" y="-2235586"/>
            <a:ext cx="11334362" cy="8364590"/>
            <a:chOff x="-1067442" y="-2235586"/>
            <a:chExt cx="11334362" cy="8364590"/>
          </a:xfrm>
        </p:grpSpPr>
        <p:sp>
          <p:nvSpPr>
            <p:cNvPr id="95" name="Google Shape;95;p6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9880295" flipH="1">
              <a:off x="-863626" y="4019806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98" name="Google Shape;98;p6"/>
            <p:cNvSpPr/>
            <p:nvPr/>
          </p:nvSpPr>
          <p:spPr>
            <a:xfrm>
              <a:off x="464702" y="42524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79627" y="6953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846775" y="2287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-367865" y="3675387"/>
            <a:ext cx="1793863" cy="1346198"/>
            <a:chOff x="-367865" y="3675387"/>
            <a:chExt cx="1793863" cy="1346198"/>
          </a:xfrm>
        </p:grpSpPr>
        <p:grpSp>
          <p:nvGrpSpPr>
            <p:cNvPr id="102" name="Google Shape;102;p6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-367865" y="3675387"/>
              <a:ext cx="676370" cy="1142272"/>
              <a:chOff x="2757910" y="1240337"/>
              <a:chExt cx="676370" cy="1142272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203996" y="-1273080"/>
            <a:ext cx="11972579" cy="8563690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7469359" y="4220679"/>
            <a:ext cx="1246094" cy="1192058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8" r:id="rId6"/>
    <p:sldLayoutId id="2147483659" r:id="rId7"/>
    <p:sldLayoutId id="2147483660" r:id="rId8"/>
    <p:sldLayoutId id="2147483661" r:id="rId9"/>
    <p:sldLayoutId id="2147483668" r:id="rId10"/>
    <p:sldLayoutId id="2147483669" r:id="rId11"/>
  </p:sldLayoutIdLst>
  <p:transition spd="slow">
    <p:cover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usti.1319@gmail.com" TargetMode="External"/><Relationship Id="rId2" Type="http://schemas.openxmlformats.org/officeDocument/2006/relationships/hyperlink" Target="mailto:nazzfarooqui22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dnyaneshwarjadhav1125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514189" y="2571750"/>
            <a:ext cx="4051307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3600" dirty="0"/>
              <a:t>DS-P_593 Product </a:t>
            </a:r>
            <a:r>
              <a:rPr lang="fr-FR" sz="3600" dirty="0" err="1"/>
              <a:t>Recommendation</a:t>
            </a:r>
            <a:r>
              <a:rPr lang="fr-FR" sz="3600" dirty="0"/>
              <a:t> </a:t>
            </a:r>
            <a:br>
              <a:rPr lang="fr-FR" sz="3600" dirty="0"/>
            </a:br>
            <a:r>
              <a:rPr lang="fr-FR" sz="3600" dirty="0"/>
              <a:t>app</a:t>
            </a:r>
            <a:endParaRPr lang="en-IN" sz="3600" dirty="0"/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666;p27">
            <a:extLst>
              <a:ext uri="{FF2B5EF4-FFF2-40B4-BE49-F238E27FC236}">
                <a16:creationId xmlns:a16="http://schemas.microsoft.com/office/drawing/2014/main" id="{2384661B-2974-F90D-5AD2-5389D57177B9}"/>
              </a:ext>
            </a:extLst>
          </p:cNvPr>
          <p:cNvSpPr txBox="1">
            <a:spLocks/>
          </p:cNvSpPr>
          <p:nvPr/>
        </p:nvSpPr>
        <p:spPr>
          <a:xfrm>
            <a:off x="450203" y="1717665"/>
            <a:ext cx="2089640" cy="62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7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algn="ctr"/>
            <a:r>
              <a:rPr lang="en-IN" sz="2800" dirty="0"/>
              <a:t>By Group 3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F6CE63-26FD-3BED-E66C-78182E014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335788"/>
              </p:ext>
            </p:extLst>
          </p:nvPr>
        </p:nvGraphicFramePr>
        <p:xfrm>
          <a:off x="1980881" y="2152098"/>
          <a:ext cx="5182238" cy="1180502"/>
        </p:xfrm>
        <a:graphic>
          <a:graphicData uri="http://schemas.openxmlformats.org/drawingml/2006/table">
            <a:tbl>
              <a:tblPr firstRow="1" bandRow="1">
                <a:tableStyleId>{A2087EF3-6789-4718-AE86-EB9EF84F4A4D}</a:tableStyleId>
              </a:tblPr>
              <a:tblGrid>
                <a:gridCol w="2525803">
                  <a:extLst>
                    <a:ext uri="{9D8B030D-6E8A-4147-A177-3AD203B41FA5}">
                      <a16:colId xmlns:a16="http://schemas.microsoft.com/office/drawing/2014/main" val="1807846684"/>
                    </a:ext>
                  </a:extLst>
                </a:gridCol>
                <a:gridCol w="2656435">
                  <a:extLst>
                    <a:ext uri="{9D8B030D-6E8A-4147-A177-3AD203B41FA5}">
                      <a16:colId xmlns:a16="http://schemas.microsoft.com/office/drawing/2014/main" val="4127201629"/>
                    </a:ext>
                  </a:extLst>
                </a:gridCol>
              </a:tblGrid>
              <a:tr h="45173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  <a:latin typeface="Baloo 2 ExtraBold" panose="020B0604020202020204" charset="0"/>
                          <a:cs typeface="Baloo 2 ExtraBold" panose="020B0604020202020204" charset="0"/>
                        </a:rPr>
                        <a:t>Mohammad Ashhar Farooqui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nazzfarooqui22@gmail.com</a:t>
                      </a:r>
                      <a:r>
                        <a:rPr lang="en-IN" sz="1200" b="0" i="0" u="none" strike="noStrike" cap="non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237926"/>
                  </a:ext>
                </a:extLst>
              </a:tr>
              <a:tr h="41722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Baloo 2 ExtraBold" panose="020B0604020202020204" charset="0"/>
                          <a:cs typeface="Baloo 2 ExtraBold" panose="020B0604020202020204" charset="0"/>
                        </a:rPr>
                        <a:t>Trishnasree 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tusti.1319@gmail.com</a:t>
                      </a:r>
                      <a:r>
                        <a:rPr lang="en-IN" sz="1200" b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9129568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Baloo 2 ExtraBold" panose="020B0604020202020204" charset="0"/>
                          <a:cs typeface="Baloo 2 ExtraBold" panose="020B0604020202020204" charset="0"/>
                        </a:rPr>
                        <a:t>Dnyaneshwar Santosh Jadhav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dnyaneshwarjadhav1125@gmail.com</a:t>
                      </a:r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9871179"/>
                  </a:ext>
                </a:extLst>
              </a:tr>
            </a:tbl>
          </a:graphicData>
        </a:graphic>
      </p:graphicFrame>
      <p:sp>
        <p:nvSpPr>
          <p:cNvPr id="7" name="Google Shape;666;p27">
            <a:extLst>
              <a:ext uri="{FF2B5EF4-FFF2-40B4-BE49-F238E27FC236}">
                <a16:creationId xmlns:a16="http://schemas.microsoft.com/office/drawing/2014/main" id="{3E5ED4E6-40A3-844A-8DAA-A331C279C051}"/>
              </a:ext>
            </a:extLst>
          </p:cNvPr>
          <p:cNvSpPr txBox="1">
            <a:spLocks/>
          </p:cNvSpPr>
          <p:nvPr/>
        </p:nvSpPr>
        <p:spPr>
          <a:xfrm>
            <a:off x="2985547" y="1606300"/>
            <a:ext cx="3172904" cy="42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7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oo 2 ExtraBold"/>
              <a:buNone/>
              <a:defRPr sz="5200" b="0" i="0" u="none" strike="noStrike" cap="none">
                <a:solidFill>
                  <a:srgbClr val="191919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algn="ctr"/>
            <a:r>
              <a:rPr lang="en-IN" sz="2000" dirty="0"/>
              <a:t>Group 3 Team Members:</a:t>
            </a:r>
          </a:p>
        </p:txBody>
      </p:sp>
    </p:spTree>
    <p:extLst>
      <p:ext uri="{BB962C8B-B14F-4D97-AF65-F5344CB8AC3E}">
        <p14:creationId xmlns:p14="http://schemas.microsoft.com/office/powerpoint/2010/main" val="60762809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"/>
          <p:cNvSpPr txBox="1">
            <a:spLocks noGrp="1"/>
          </p:cNvSpPr>
          <p:nvPr>
            <p:ph type="title"/>
          </p:nvPr>
        </p:nvSpPr>
        <p:spPr>
          <a:xfrm>
            <a:off x="720000" y="28536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u="sng" dirty="0"/>
              <a:t>Project: Product Recommendation</a:t>
            </a:r>
            <a:endParaRPr lang="en-IN" dirty="0"/>
          </a:p>
        </p:txBody>
      </p:sp>
      <p:sp>
        <p:nvSpPr>
          <p:cNvPr id="751" name="Google Shape;751;p28"/>
          <p:cNvSpPr txBox="1">
            <a:spLocks noGrp="1"/>
          </p:cNvSpPr>
          <p:nvPr>
            <p:ph type="body" idx="1"/>
          </p:nvPr>
        </p:nvSpPr>
        <p:spPr>
          <a:xfrm>
            <a:off x="720000" y="1125448"/>
            <a:ext cx="8017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dirty="0"/>
              <a:t>The primary objective of this project is to develop and implement a </a:t>
            </a:r>
            <a:r>
              <a:rPr lang="en-US" sz="1100" b="1" dirty="0"/>
              <a:t>recommendation system</a:t>
            </a:r>
            <a:r>
              <a:rPr lang="en-US" sz="1100" dirty="0"/>
              <a:t> for an e-commerce platform that enhances customer experience by providing </a:t>
            </a:r>
            <a:r>
              <a:rPr lang="en-US" sz="1100" b="1" dirty="0"/>
              <a:t>personalized product suggestions</a:t>
            </a:r>
            <a:r>
              <a:rPr lang="en-US" sz="1100" dirty="0"/>
              <a:t>. The system will utilize </a:t>
            </a:r>
            <a:r>
              <a:rPr lang="en-US" sz="1100" b="1" dirty="0"/>
              <a:t>item-item collaborative filtering</a:t>
            </a:r>
            <a:r>
              <a:rPr lang="en-US" sz="1100" dirty="0"/>
              <a:t> to analyze user behavior and product ratings, identifying relationships between items based on user preferences.</a:t>
            </a:r>
          </a:p>
          <a:p>
            <a:pPr marL="139700" indent="0">
              <a:buNone/>
            </a:pPr>
            <a:endParaRPr lang="en-US" sz="1100" dirty="0"/>
          </a:p>
          <a:p>
            <a:pPr marL="139700" indent="0">
              <a:buNone/>
            </a:pPr>
            <a:r>
              <a:rPr lang="en-US" sz="1100" dirty="0"/>
              <a:t>By predicting the </a:t>
            </a:r>
            <a:r>
              <a:rPr lang="en-US" sz="1100" b="1" dirty="0"/>
              <a:t>ratings or preferences</a:t>
            </a:r>
            <a:r>
              <a:rPr lang="en-US" sz="1100" dirty="0"/>
              <a:t> a user might assign to unrated products, the system aims to:</a:t>
            </a:r>
          </a:p>
          <a:p>
            <a:r>
              <a:rPr lang="en-US" sz="1100" dirty="0"/>
              <a:t>Improve </a:t>
            </a:r>
            <a:r>
              <a:rPr lang="en-US" sz="1100" b="1" dirty="0"/>
              <a:t>user engagement</a:t>
            </a:r>
            <a:r>
              <a:rPr lang="en-US" sz="1100" dirty="0"/>
              <a:t> and </a:t>
            </a:r>
            <a:r>
              <a:rPr lang="en-US" sz="1100" b="1" dirty="0"/>
              <a:t>customer satisfaction</a:t>
            </a:r>
            <a:r>
              <a:rPr lang="en-US" sz="1100" dirty="0"/>
              <a:t> through relevant recommendations.</a:t>
            </a:r>
          </a:p>
          <a:p>
            <a:r>
              <a:rPr lang="en-US" sz="1100" dirty="0"/>
              <a:t>Increase </a:t>
            </a:r>
            <a:r>
              <a:rPr lang="en-US" sz="1100" b="1" dirty="0"/>
              <a:t>sales conversion rates</a:t>
            </a:r>
            <a:r>
              <a:rPr lang="en-US" sz="1100" dirty="0"/>
              <a:t> and </a:t>
            </a:r>
            <a:r>
              <a:rPr lang="en-US" sz="1100" b="1" dirty="0"/>
              <a:t>average order value</a:t>
            </a:r>
            <a:r>
              <a:rPr lang="en-US" sz="1100" dirty="0"/>
              <a:t> by encouraging product discovery.</a:t>
            </a:r>
          </a:p>
          <a:p>
            <a:r>
              <a:rPr lang="en-US" sz="1100" dirty="0"/>
              <a:t>Strengthen </a:t>
            </a:r>
            <a:r>
              <a:rPr lang="en-US" sz="1100" b="1" dirty="0"/>
              <a:t>customer retention</a:t>
            </a:r>
            <a:r>
              <a:rPr lang="en-US" sz="1100" dirty="0"/>
              <a:t> through a more tailored shopping experience.</a:t>
            </a:r>
          </a:p>
          <a:p>
            <a:pPr marL="139700" indent="0">
              <a:buNone/>
            </a:pPr>
            <a:endParaRPr lang="en-US" sz="1100" dirty="0"/>
          </a:p>
          <a:p>
            <a:pPr marL="139700" indent="0">
              <a:buNone/>
            </a:pPr>
            <a:endParaRPr lang="en-US" sz="1100" dirty="0"/>
          </a:p>
        </p:txBody>
      </p:sp>
      <p:graphicFrame>
        <p:nvGraphicFramePr>
          <p:cNvPr id="754" name="Google Shape;754;p28"/>
          <p:cNvGraphicFramePr/>
          <p:nvPr>
            <p:extLst>
              <p:ext uri="{D42A27DB-BD31-4B8C-83A1-F6EECF244321}">
                <p14:modId xmlns:p14="http://schemas.microsoft.com/office/powerpoint/2010/main" val="2281382135"/>
              </p:ext>
            </p:extLst>
          </p:nvPr>
        </p:nvGraphicFramePr>
        <p:xfrm>
          <a:off x="993846" y="3197135"/>
          <a:ext cx="3440994" cy="1102560"/>
        </p:xfrm>
        <a:graphic>
          <a:graphicData uri="http://schemas.openxmlformats.org/drawingml/2006/table">
            <a:tbl>
              <a:tblPr>
                <a:noFill/>
                <a:tableStyleId>{A2087EF3-6789-4718-AE86-EB9EF84F4A4D}</a:tableStyleId>
              </a:tblPr>
              <a:tblGrid>
                <a:gridCol w="96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dirty="0" err="1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UserId</a:t>
                      </a:r>
                      <a:r>
                        <a:rPr lang="en-IN" sz="800" u="none" dirty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 </a:t>
                      </a:r>
                      <a:endParaRPr sz="800" u="none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800" dirty="0"/>
                        <a:t>Unique identifier for each user.</a:t>
                      </a:r>
                      <a:endParaRPr lang="en-US" sz="8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b="1" dirty="0" err="1"/>
                        <a:t>productId</a:t>
                      </a:r>
                      <a:endParaRPr sz="800" b="1" u="none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800" dirty="0"/>
                        <a:t>Unique identifier for each product.</a:t>
                      </a:r>
                      <a:endParaRPr lang="en-US" sz="8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b="1" dirty="0"/>
                        <a:t>Rating</a:t>
                      </a:r>
                      <a:endParaRPr sz="800" b="1" u="sng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800" dirty="0"/>
                        <a:t>User’s rating for a given product, used to infer preference patterns.</a:t>
                      </a:r>
                      <a:endParaRPr lang="en-US" sz="8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b="1" dirty="0"/>
                        <a:t>timestamp</a:t>
                      </a:r>
                      <a:endParaRPr sz="800" b="1" u="none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800" dirty="0"/>
                        <a:t>Time of the rating (excluded from analysis for this task).</a:t>
                      </a:r>
                      <a:endParaRPr lang="en-US" sz="8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1053154" y="8065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 (EDA) </a:t>
            </a:r>
            <a:endParaRPr dirty="0"/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2F988DF3-3ED1-D74D-DEDD-F54B570D7C32}"/>
              </a:ext>
            </a:extLst>
          </p:cNvPr>
          <p:cNvSpPr txBox="1"/>
          <p:nvPr/>
        </p:nvSpPr>
        <p:spPr>
          <a:xfrm>
            <a:off x="1053155" y="1700647"/>
            <a:ext cx="66519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40000"/>
            </a:pPr>
            <a:r>
              <a:rPr lang="en-US" sz="1400" b="1" dirty="0">
                <a:latin typeface="DM Sans" pitchFamily="2" charset="0"/>
              </a:rPr>
              <a:t>Data Loading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sz="1400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Load dataset from CSV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Preview data with head()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Brief: Shows how the data is imported and initially inspected for correctness.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sz="1400" dirty="0">
              <a:latin typeface="DM Sans" pitchFamily="2" charset="0"/>
            </a:endParaRPr>
          </a:p>
          <a:p>
            <a:pPr>
              <a:buSzPct val="140000"/>
            </a:pPr>
            <a:r>
              <a:rPr lang="en-US" sz="1400" b="1" dirty="0">
                <a:latin typeface="DM Sans" pitchFamily="2" charset="0"/>
              </a:rPr>
              <a:t>Data Quality Checks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sz="1400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Check data info and missing values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Statistical summary of ratings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400" dirty="0">
                <a:latin typeface="DM Sans" pitchFamily="2" charset="0"/>
              </a:rPr>
              <a:t>Brief: Ensures data integrity by checking for missing values and understanding basic statistics.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sz="1400" dirty="0">
              <a:latin typeface="DM Sans" pitchFamily="2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720000" y="1508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/>
              <a:t>Data Visualization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493AA-A1D2-3984-8CD5-A8928401C4D1}"/>
              </a:ext>
            </a:extLst>
          </p:cNvPr>
          <p:cNvSpPr txBox="1"/>
          <p:nvPr/>
        </p:nvSpPr>
        <p:spPr>
          <a:xfrm>
            <a:off x="522513" y="878451"/>
            <a:ext cx="79901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40000"/>
            </a:pPr>
            <a:r>
              <a:rPr lang="en-US" sz="1200" b="1" dirty="0">
                <a:latin typeface="DM Sans" pitchFamily="2" charset="0"/>
              </a:rPr>
              <a:t>Rating Distribution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sz="1200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Most ratings are positive (4 or 5)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Histogram visualizes distribution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1200" dirty="0">
                <a:latin typeface="DM Sans" pitchFamily="2" charset="0"/>
              </a:rPr>
              <a:t>Brief: Analyzes how users rate products, showing a tendency toward positive feedback.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0D8FF-E5B6-9507-3CE8-DA15B0544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377" y="2009049"/>
            <a:ext cx="4500563" cy="24806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7DFF20-1775-1FE2-46B6-C309156DA52F}"/>
              </a:ext>
            </a:extLst>
          </p:cNvPr>
          <p:cNvSpPr txBox="1"/>
          <p:nvPr/>
        </p:nvSpPr>
        <p:spPr>
          <a:xfrm>
            <a:off x="921522" y="496570"/>
            <a:ext cx="799011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40000"/>
            </a:pPr>
            <a:r>
              <a:rPr lang="en-US" b="1" dirty="0">
                <a:latin typeface="DM Sans" pitchFamily="2" charset="0"/>
              </a:rPr>
              <a:t>User Activity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Top 20 users by rating count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Bar plot shows user engagement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Identifies the most active users, which can influence recommendation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3908F-5D0B-EEC0-B124-289B39ED7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89" y="1770561"/>
            <a:ext cx="5058252" cy="313332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6A458C-FD87-520F-0522-F5379FF9CF3C}"/>
              </a:ext>
            </a:extLst>
          </p:cNvPr>
          <p:cNvSpPr txBox="1"/>
          <p:nvPr/>
        </p:nvSpPr>
        <p:spPr>
          <a:xfrm>
            <a:off x="1070428" y="397510"/>
            <a:ext cx="79901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40000"/>
            </a:pPr>
            <a:r>
              <a:rPr lang="en-US" b="1" dirty="0">
                <a:latin typeface="DM Sans" pitchFamily="2" charset="0"/>
              </a:rPr>
              <a:t>Product Activity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Top 20 products by rating count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 err="1">
                <a:latin typeface="DM Sans" pitchFamily="2" charset="0"/>
              </a:rPr>
              <a:t>Barplot</a:t>
            </a:r>
            <a:r>
              <a:rPr lang="en-US" dirty="0">
                <a:latin typeface="DM Sans" pitchFamily="2" charset="0"/>
              </a:rPr>
              <a:t> shows popular products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Highlights products with the most ratings, indicating popularity and potential recommendation candidates.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2420CD-76C3-D1AA-6B8D-A4E9FC8C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55" y="1810959"/>
            <a:ext cx="5175885" cy="293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3980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4;p34">
            <a:extLst>
              <a:ext uri="{FF2B5EF4-FFF2-40B4-BE49-F238E27FC236}">
                <a16:creationId xmlns:a16="http://schemas.microsoft.com/office/drawing/2014/main" id="{00EAE6BF-A524-A44B-91C8-41CC61B7E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Feature Engineering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E9412-C099-EC4D-70BA-5FBC74B0F8D8}"/>
              </a:ext>
            </a:extLst>
          </p:cNvPr>
          <p:cNvSpPr txBox="1"/>
          <p:nvPr/>
        </p:nvSpPr>
        <p:spPr>
          <a:xfrm>
            <a:off x="1348242" y="1388110"/>
            <a:ext cx="603553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The 'Date' column was converted to a numerical timestamp, allowing models to better capture time-based patterns.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Extract year and month features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Enhances the dataset by creating new time-based features for deeper analysis.</a:t>
            </a:r>
          </a:p>
        </p:txBody>
      </p:sp>
    </p:spTree>
    <p:extLst>
      <p:ext uri="{BB962C8B-B14F-4D97-AF65-F5344CB8AC3E}">
        <p14:creationId xmlns:p14="http://schemas.microsoft.com/office/powerpoint/2010/main" val="11819213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4;p34">
            <a:extLst>
              <a:ext uri="{FF2B5EF4-FFF2-40B4-BE49-F238E27FC236}">
                <a16:creationId xmlns:a16="http://schemas.microsoft.com/office/drawing/2014/main" id="{AD7CF8F9-216D-EDE9-6302-40580B83D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91" y="46649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Ratings Over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77920-D82E-E700-571F-62B4411263E0}"/>
              </a:ext>
            </a:extLst>
          </p:cNvPr>
          <p:cNvSpPr txBox="1"/>
          <p:nvPr/>
        </p:nvSpPr>
        <p:spPr>
          <a:xfrm>
            <a:off x="891291" y="1167130"/>
            <a:ext cx="73614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Average rating by year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Average rating by month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 err="1">
                <a:latin typeface="DM Sans" pitchFamily="2" charset="0"/>
              </a:rPr>
              <a:t>Barplots</a:t>
            </a:r>
            <a:r>
              <a:rPr lang="en-US" dirty="0">
                <a:latin typeface="DM Sans" pitchFamily="2" charset="0"/>
              </a:rPr>
              <a:t> show trends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Examines how ratings change over time, revealing seasonal or yearly patterns.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126A1-14CF-82DC-B73F-D24BB9E5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74" y="2448157"/>
            <a:ext cx="3527106" cy="2118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8C7B2-E108-E5A5-6EC5-1A13C25D4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135" y="2382345"/>
            <a:ext cx="3801575" cy="218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5285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4;p34">
            <a:extLst>
              <a:ext uri="{FF2B5EF4-FFF2-40B4-BE49-F238E27FC236}">
                <a16:creationId xmlns:a16="http://schemas.microsoft.com/office/drawing/2014/main" id="{6FF8CE4E-9A44-3ADE-1CFA-E0B05C9CD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Correlation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2F266-6BE8-6920-9BE2-B4535E45D155}"/>
              </a:ext>
            </a:extLst>
          </p:cNvPr>
          <p:cNvSpPr txBox="1"/>
          <p:nvPr/>
        </p:nvSpPr>
        <p:spPr>
          <a:xfrm>
            <a:off x="1348242" y="1182370"/>
            <a:ext cx="6850878" cy="103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Correlation matrix for rating, year, month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Heatmap visualization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Investigates relationships between features to inform model selection.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51DA1-10E6-622F-207F-61C5BC26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285" y="2214703"/>
            <a:ext cx="3617595" cy="27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1273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24E38C39-D690-E65D-0AF6-441003704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3200" dirty="0"/>
              <a:t>Outlier Detection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9DF6D-C0BE-E915-DEEF-C1FF3DFC4721}"/>
              </a:ext>
            </a:extLst>
          </p:cNvPr>
          <p:cNvSpPr txBox="1"/>
          <p:nvPr/>
        </p:nvSpPr>
        <p:spPr>
          <a:xfrm>
            <a:off x="1348243" y="1182370"/>
            <a:ext cx="67289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Boxplot for ratings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Identify outliers in user feedback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Detects unusual rating behavior that may affect model accuracy.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3B78A-588B-ECCC-A425-10D4FC58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090" y="2087067"/>
            <a:ext cx="4781550" cy="291793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85068BC1-D66B-D75A-4399-20AC29B63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Key Insights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89231-382F-7F69-E91D-5947E18EFB80}"/>
              </a:ext>
            </a:extLst>
          </p:cNvPr>
          <p:cNvSpPr txBox="1"/>
          <p:nvPr/>
        </p:nvSpPr>
        <p:spPr>
          <a:xfrm>
            <a:off x="1348242" y="1334770"/>
            <a:ext cx="6424157" cy="135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Ratings are mostly positive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Some users/products are highly active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Ratings consistent over time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Summarizes main findings from EDA, guiding model building.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AF6DA09E-718E-6930-1935-05E20B64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8446DB8F-2DD8-E473-45D5-6810B300A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 err="1"/>
              <a:t>Modeling</a:t>
            </a:r>
            <a:r>
              <a:rPr lang="en-IN" dirty="0"/>
              <a:t> Approaches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FE719-B0C1-CD04-B120-D4E563FC0146}"/>
              </a:ext>
            </a:extLst>
          </p:cNvPr>
          <p:cNvSpPr txBox="1"/>
          <p:nvPr/>
        </p:nvSpPr>
        <p:spPr>
          <a:xfrm>
            <a:off x="1348242" y="1334770"/>
            <a:ext cx="6767058" cy="200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User-User Collaborative Filtering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Item-Item Collaborative Filtering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Content-Based Filtering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Matrix Factorization (SVD)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Random Forest Regression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Lists and briefly describes each modeling technique to be compared.</a:t>
            </a:r>
          </a:p>
        </p:txBody>
      </p:sp>
    </p:spTree>
    <p:extLst>
      <p:ext uri="{BB962C8B-B14F-4D97-AF65-F5344CB8AC3E}">
        <p14:creationId xmlns:p14="http://schemas.microsoft.com/office/powerpoint/2010/main" val="424313657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41274E6E-0005-DDCC-E4F3-9DD223BE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B9AE1705-B276-1850-A993-C6133CF7EA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User-User Collaborative Filtering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9E821-E8E5-634C-07F5-98A4846D9696}"/>
              </a:ext>
            </a:extLst>
          </p:cNvPr>
          <p:cNvSpPr txBox="1"/>
          <p:nvPr/>
        </p:nvSpPr>
        <p:spPr>
          <a:xfrm>
            <a:off x="1348242" y="1334770"/>
            <a:ext cx="6424157" cy="135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Finds similar users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Recommends products rated by similar users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Memory-based, efficient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Explains how user similarity is leveraged for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61848148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2A8C7409-3A4D-BDF2-A61A-D3C08610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680B022B-6D59-055E-4702-69C92E02E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 Item-Item Collaborative Filtering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89777-7805-3BF8-B7AC-7E3BB62A6F7B}"/>
              </a:ext>
            </a:extLst>
          </p:cNvPr>
          <p:cNvSpPr txBox="1"/>
          <p:nvPr/>
        </p:nvSpPr>
        <p:spPr>
          <a:xfrm>
            <a:off x="1348242" y="1334770"/>
            <a:ext cx="6424157" cy="135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Finds similar products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Recommends products similar to those rated by user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Memory-based, efficient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Focuses on product similarity for personalized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4211691845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CDD31588-8769-75AC-980E-1BDCDC40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5521A519-78FC-D76A-0DBF-FA3341D58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Content-Based Filtering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ED946-0090-7DF9-7CC4-181E48E93236}"/>
              </a:ext>
            </a:extLst>
          </p:cNvPr>
          <p:cNvSpPr txBox="1"/>
          <p:nvPr/>
        </p:nvSpPr>
        <p:spPr>
          <a:xfrm>
            <a:off x="1348242" y="1334770"/>
            <a:ext cx="6424157" cy="135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Uses product features (average rating)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Recommends top-rated products not yet rated by user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Relies on product attributes for recommendations, useful for new users.</a:t>
            </a:r>
          </a:p>
        </p:txBody>
      </p:sp>
    </p:spTree>
    <p:extLst>
      <p:ext uri="{BB962C8B-B14F-4D97-AF65-F5344CB8AC3E}">
        <p14:creationId xmlns:p14="http://schemas.microsoft.com/office/powerpoint/2010/main" val="216901043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6F9F8A0D-7B96-8140-22EF-52FFF50E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D335BE49-57C1-6AC7-08A1-5FBC31E1A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Matrix Factorization (SVD)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819C2-A113-1EA5-0AE4-99602D8D7153}"/>
              </a:ext>
            </a:extLst>
          </p:cNvPr>
          <p:cNvSpPr txBox="1"/>
          <p:nvPr/>
        </p:nvSpPr>
        <p:spPr>
          <a:xfrm>
            <a:off x="1348242" y="1334770"/>
            <a:ext cx="6424157" cy="103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Decomposes user-item matrix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Handles sparsity, provides personalized recommendations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Uses latent features to predict ratings, effective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4212405463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F78DEBA2-2DA9-64E2-DC93-5D302D80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DE27C492-4E5C-E797-F96A-8AAE3A247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Model Comparison &amp; Recommendation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EEBE8-D526-C246-CC53-9A6FA791E2B1}"/>
              </a:ext>
            </a:extLst>
          </p:cNvPr>
          <p:cNvSpPr txBox="1"/>
          <p:nvPr/>
        </p:nvSpPr>
        <p:spPr>
          <a:xfrm>
            <a:off x="1348242" y="1232922"/>
            <a:ext cx="64241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SVD is best for large, sparse datasets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User/Item CF efficient but cold start issues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Content-Based is simple, limited personalization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Random Forest useful for regression, less collaborative effect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Proceed with SVD for production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DM Sans" pitchFamily="2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Brief: Compares models, recommends SVD for deployment, and summarizes strengths/weaknesses.</a:t>
            </a:r>
          </a:p>
        </p:txBody>
      </p:sp>
    </p:spTree>
    <p:extLst>
      <p:ext uri="{BB962C8B-B14F-4D97-AF65-F5344CB8AC3E}">
        <p14:creationId xmlns:p14="http://schemas.microsoft.com/office/powerpoint/2010/main" val="531955510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3696E345-57D2-8F0B-3FDC-142F05A7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25397D01-99F6-8B77-D7EC-8DF626A72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818" y="2368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Screenshot of the Streamlit App Page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899DC-1DB0-7343-B199-442AB215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" y="885709"/>
            <a:ext cx="7871460" cy="420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0641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5B6DC-2C96-D6B9-B272-0B760829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02734"/>
            <a:ext cx="8618219" cy="453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51914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8E0258-18EE-CC3D-1D59-F562D10FF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748E60-C61C-6995-C915-16173C3AB9E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7F58FF-3259-786A-E1F9-BD9D9615F39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6D05EDA-FCB1-E077-7ACE-A627940FD58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756EBF4-2DA4-C985-5C11-F7E9695BC740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E73220A-289C-71A8-C35A-22228D584AFC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8693EC-1803-76B7-BCAE-03E891EE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2" y="337667"/>
            <a:ext cx="8770676" cy="44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0332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4EABAE69-D327-5779-FF44-A9548C38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4;p34">
            <a:extLst>
              <a:ext uri="{FF2B5EF4-FFF2-40B4-BE49-F238E27FC236}">
                <a16:creationId xmlns:a16="http://schemas.microsoft.com/office/drawing/2014/main" id="{AB61816E-B8BC-9812-8BDD-734EBB841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242" y="443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Challenges Faced During the Project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BEAA4-D09F-C8DE-0D65-F8AA21CB0CDA}"/>
              </a:ext>
            </a:extLst>
          </p:cNvPr>
          <p:cNvSpPr txBox="1"/>
          <p:nvPr/>
        </p:nvSpPr>
        <p:spPr>
          <a:xfrm>
            <a:off x="1348242" y="1334770"/>
            <a:ext cx="6424157" cy="339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Data sparsity: </a:t>
            </a:r>
            <a:r>
              <a:rPr lang="en-US" sz="1200" dirty="0">
                <a:latin typeface="DM Sans" pitchFamily="2" charset="0"/>
              </a:rPr>
              <a:t>Many users and products with few ratings, making collaborative filtering challenging.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Cold start problem: </a:t>
            </a:r>
            <a:r>
              <a:rPr lang="en-US" sz="1200" dirty="0">
                <a:latin typeface="DM Sans" pitchFamily="2" charset="0"/>
              </a:rPr>
              <a:t>Difficulty recommending for new users or new products with little or no history.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Memory management: </a:t>
            </a:r>
            <a:r>
              <a:rPr lang="en-US" sz="1200" dirty="0">
                <a:latin typeface="DM Sans" pitchFamily="2" charset="0"/>
              </a:rPr>
              <a:t>Large user-item matrices required efficient sparse matrix implementations to avoid memory errors.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Model selection: </a:t>
            </a:r>
            <a:r>
              <a:rPr lang="en-US" sz="1200" dirty="0">
                <a:latin typeface="DM Sans" pitchFamily="2" charset="0"/>
              </a:rPr>
              <a:t>Comparing multiple approaches to find the best fit for the dataset and business requirements.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Feature engineering: </a:t>
            </a:r>
            <a:r>
              <a:rPr lang="en-US" sz="1200" dirty="0">
                <a:latin typeface="DM Sans" pitchFamily="2" charset="0"/>
              </a:rPr>
              <a:t>Limited product/user features restricted the use of advanced content-based methods.</a:t>
            </a:r>
          </a:p>
          <a:p>
            <a:pPr marL="285750" indent="-28575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DM Sans" pitchFamily="2" charset="0"/>
              </a:rPr>
              <a:t>Evaluation: </a:t>
            </a:r>
            <a:r>
              <a:rPr lang="en-US" sz="1200" dirty="0">
                <a:latin typeface="DM Sans" pitchFamily="2" charset="0"/>
              </a:rPr>
              <a:t>Ensuring fair and robust model comparison using appropriate metrics and validation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123455434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C5C8-FE39-80AB-04B1-EDFC546D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841435"/>
            <a:ext cx="7704000" cy="572700"/>
          </a:xfrm>
        </p:spPr>
        <p:txBody>
          <a:bodyPr/>
          <a:lstStyle/>
          <a:p>
            <a:pPr algn="ctr"/>
            <a:r>
              <a:rPr lang="en-US" sz="6600" dirty="0"/>
              <a:t>Thanks !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9401929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10194</TotalTime>
  <Words>790</Words>
  <Application>Microsoft Office PowerPoint</Application>
  <PresentationFormat>On-screen Show (16:9)</PresentationFormat>
  <Paragraphs>122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DM Sans</vt:lpstr>
      <vt:lpstr>Nunito Light</vt:lpstr>
      <vt:lpstr>Calibri</vt:lpstr>
      <vt:lpstr>Arial</vt:lpstr>
      <vt:lpstr>Anaheim</vt:lpstr>
      <vt:lpstr>Baloo 2 ExtraBold</vt:lpstr>
      <vt:lpstr>Statistics and Data Analysis - 6th Grade by Slidesgo</vt:lpstr>
      <vt:lpstr>DS-P_593 Product Recommendation  app</vt:lpstr>
      <vt:lpstr>PowerPoint Presentation</vt:lpstr>
      <vt:lpstr>Project: Product Recommendation</vt:lpstr>
      <vt:lpstr>Exploratory Data Analysis (EDA) </vt:lpstr>
      <vt:lpstr>Data Visualization </vt:lpstr>
      <vt:lpstr>PowerPoint Presentation</vt:lpstr>
      <vt:lpstr>PowerPoint Presentation</vt:lpstr>
      <vt:lpstr>Feature Engineering</vt:lpstr>
      <vt:lpstr>Ratings Over Time</vt:lpstr>
      <vt:lpstr>Correlation Analysis</vt:lpstr>
      <vt:lpstr>Outlier Detection</vt:lpstr>
      <vt:lpstr>Key Insights</vt:lpstr>
      <vt:lpstr>Modeling Approaches</vt:lpstr>
      <vt:lpstr>User-User Collaborative Filtering</vt:lpstr>
      <vt:lpstr> Item-Item Collaborative Filtering</vt:lpstr>
      <vt:lpstr>Content-Based Filtering</vt:lpstr>
      <vt:lpstr>Matrix Factorization (SVD)</vt:lpstr>
      <vt:lpstr>Model Comparison &amp; Recommendation</vt:lpstr>
      <vt:lpstr>Screenshot of the Streamlit App Page</vt:lpstr>
      <vt:lpstr>PowerPoint Presentation</vt:lpstr>
      <vt:lpstr>PowerPoint Presentation</vt:lpstr>
      <vt:lpstr>Challenges Faced During the Project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Ashhar Farooqui</cp:lastModifiedBy>
  <cp:revision>69</cp:revision>
  <dcterms:modified xsi:type="dcterms:W3CDTF">2025-11-13T13:07:44Z</dcterms:modified>
</cp:coreProperties>
</file>